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9" r:id="rId6"/>
    <p:sldId id="272" r:id="rId7"/>
    <p:sldId id="271" r:id="rId8"/>
    <p:sldId id="261" r:id="rId9"/>
    <p:sldId id="262" r:id="rId10"/>
    <p:sldId id="268" r:id="rId11"/>
    <p:sldId id="266" r:id="rId12"/>
    <p:sldId id="267" r:id="rId13"/>
    <p:sldId id="263" r:id="rId14"/>
    <p:sldId id="264" r:id="rId15"/>
    <p:sldId id="265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868E8-8DCF-B1E9-6763-0DE86C45C08A}" v="2" dt="2026-06-01T20:15:21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3A5C"/>
                </a:solidFill>
                <a:latin typeface="Arial"/>
              </a:rPr>
              <a:t>Test Cases by Module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AED6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Catalog
&amp; Search</c:v>
                </c:pt>
                <c:pt idx="1">
                  <c:v>Product
&amp; Cart</c:v>
                </c:pt>
                <c:pt idx="2">
                  <c:v>Framework
&amp; Security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11-4B67-8E7C-5A79D2926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Catalog
&amp; Search</c:v>
                </c:pt>
                <c:pt idx="1">
                  <c:v>Product
&amp; Cart</c:v>
                </c:pt>
                <c:pt idx="2">
                  <c:v>Framework
&amp; Security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</c:v>
                </c:pt>
                <c:pt idx="1">
                  <c:v>13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11-4B67-8E7C-5A79D2926D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0F6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83064-5060-4967-B260-A8EA7344C6B6}" type="datetimeFigureOut"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6845F-E8B6-4AB8-A00B-2CF352991E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96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9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31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9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99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2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5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86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726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402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413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334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841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101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93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370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581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521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56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B8596-890D-4FE2-963B-7A08798D0E6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E4744-F644-4C42-BBE5-92FB085EC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3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65760"/>
            <a:ext cx="1645920" cy="164592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640080"/>
            <a:ext cx="1097280" cy="109728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914400"/>
            <a:ext cx="292608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AUTOMATION TESTING PROJECT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Toolshop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40740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Farah Saleem  •  Ahmad Basheer  •  Monira  •  Hassan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 | 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138160" y="137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0:00–2:30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Toolshop — a realistic Angular e-commerce sandbox at practicesoftwaretesting.com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Scope: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Registration &amp; Authentication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Search &amp; Catalog Filtering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 Item Management &amp; Price Totals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Performance, Load &amp; Stress Testing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&amp; Penetration Testing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 &amp; Payment Gateways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Farah Saleem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039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Lead, Framework &amp; Security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578608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2532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Basheer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788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Co-Lead, All Modules Support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328416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3282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Monera AlMashni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538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Search (Module 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4078224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57800" y="4032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42885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Cart (Module 2)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138160" y="137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Highlights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64008" cy="1508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</a:rPr>
              <a:t>UI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69848" y="1371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9848" y="170992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system, discover edge-case bugs, validate form inputs &amp; UI layout vs SRS.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64008" cy="1508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</a:rPr>
              <a:t>FA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04688" y="1371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04688" y="170992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end-to-end execution across all 3 modules.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64008" cy="1508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</a:rPr>
              <a:t>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9848" y="3063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9848" y="34015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logins, missing form fields — error message verification automated.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26080"/>
            <a:ext cx="64008" cy="1508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5C"/>
                </a:solidFill>
              </a:rPr>
              <a:t>RG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04688" y="3063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04688" y="34015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TestNG suite re-run after every code merge to prevent breakage.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Modules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defines 3 core modules — each mapped to test cases in the RTM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1417320"/>
            <a:ext cx="283464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417320"/>
            <a:ext cx="283464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Catalog &amp; 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M1-FR-01 – M1-FR-23 (23 requirements)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" y="228600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02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product grid loads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" y="274320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keyword &amp; partial-match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" y="320040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 &amp; multi-filter combinations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" y="365760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Name A–Z / Z–A, Price Low–High / High–Low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" y="411480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Pagination: Next / Previous / jump to page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45536" y="1417320"/>
            <a:ext cx="283464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45536" y="1417320"/>
            <a:ext cx="2834640" cy="50292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Product Details &amp; Cart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36976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M2-FR-01 – M2-FR-15 (15 requirements)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55264" y="2286000"/>
            <a:ext cx="91440" cy="9144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2402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display &amp; thumbnail carousel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55264" y="2743200"/>
            <a:ext cx="91440" cy="9144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6974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selector (min 1, non-numeric rejected)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3200400"/>
            <a:ext cx="91440" cy="9144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1546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with correct count &amp; badge update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55264" y="3657600"/>
            <a:ext cx="91440" cy="9144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36118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Toast/confirmation on cart 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55264" y="4114800"/>
            <a:ext cx="91440" cy="9144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40690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→ Add to Cart disabled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9904" y="1417320"/>
            <a:ext cx="283464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9904" y="1417320"/>
            <a:ext cx="2834640" cy="5029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User Account Management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81344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M3-FR-01 – M3-FR-22 (22 requirements)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9632" y="2286000"/>
            <a:ext cx="91440" cy="9144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22402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full field validation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2743200"/>
            <a:ext cx="91440" cy="9144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26974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Logout flows &amp; session clearing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9632" y="3200400"/>
            <a:ext cx="91440" cy="9144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1546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&amp; weak password rejection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9632" y="3657600"/>
            <a:ext cx="91440" cy="9144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36118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view, edit &amp; password change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99632" y="4114800"/>
            <a:ext cx="91440" cy="9144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40690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 redirect after logout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Catalog &amp; Search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878956" y="1490472"/>
            <a:ext cx="2650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8608" y="1581591"/>
            <a:ext cx="2834640" cy="2666007"/>
          </a:xfrm>
          <a:prstGeom prst="rect">
            <a:avLst/>
          </a:prstGeom>
          <a:solidFill>
            <a:srgbClr val="1A3A5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717758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9776" y="15815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Grid Verification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97480" y="2083518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7556" y="1938959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Mapping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427909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9776" y="226639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Insensitivity Handling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2759158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9776" y="263215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String Matching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01036" y="3186375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6258" y="30547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</a:t>
            </a:r>
            <a:r>
              <a:rPr lang="en-US" sz="1000" dirty="0" smtClean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Inputs.</a:t>
            </a:r>
            <a:endParaRPr lang="en-US" sz="1000" dirty="0"/>
          </a:p>
        </p:txBody>
      </p:sp>
      <p:sp>
        <p:nvSpPr>
          <p:cNvPr id="50" name="Text 19"/>
          <p:cNvSpPr/>
          <p:nvPr/>
        </p:nvSpPr>
        <p:spPr>
          <a:xfrm>
            <a:off x="2797556" y="342055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Space Safeguards </a:t>
            </a:r>
            <a:r>
              <a:rPr lang="en-US" sz="1000" dirty="0" smtClean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51" name="Text 19"/>
          <p:cNvSpPr/>
          <p:nvPr/>
        </p:nvSpPr>
        <p:spPr>
          <a:xfrm>
            <a:off x="2797556" y="3824743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Boundary Rules</a:t>
            </a:r>
            <a:endParaRPr lang="en-US" sz="1000" dirty="0"/>
          </a:p>
        </p:txBody>
      </p:sp>
      <p:sp>
        <p:nvSpPr>
          <p:cNvPr id="52" name="Shape 18"/>
          <p:cNvSpPr/>
          <p:nvPr/>
        </p:nvSpPr>
        <p:spPr>
          <a:xfrm>
            <a:off x="2706116" y="3976536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3" name="Shape 18"/>
          <p:cNvSpPr/>
          <p:nvPr/>
        </p:nvSpPr>
        <p:spPr>
          <a:xfrm>
            <a:off x="2701036" y="3585873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4450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4"/>
          <p:cNvSpPr/>
          <p:nvPr/>
        </p:nvSpPr>
        <p:spPr>
          <a:xfrm>
            <a:off x="432816" y="606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M2 — Product Details &amp; Cart</a:t>
            </a:r>
            <a:endParaRPr lang="en-US" sz="3200" dirty="0"/>
          </a:p>
        </p:txBody>
      </p:sp>
      <p:sp>
        <p:nvSpPr>
          <p:cNvPr id="35" name="Shape 6"/>
          <p:cNvSpPr/>
          <p:nvPr/>
        </p:nvSpPr>
        <p:spPr>
          <a:xfrm>
            <a:off x="3035808" y="1715493"/>
            <a:ext cx="2834640" cy="16982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6" name="Text 8"/>
          <p:cNvSpPr/>
          <p:nvPr/>
        </p:nvSpPr>
        <p:spPr>
          <a:xfrm>
            <a:off x="3127248" y="130401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7" name="Shape 10"/>
          <p:cNvSpPr/>
          <p:nvPr/>
        </p:nvSpPr>
        <p:spPr>
          <a:xfrm>
            <a:off x="3154680" y="198882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11"/>
          <p:cNvSpPr/>
          <p:nvPr/>
        </p:nvSpPr>
        <p:spPr>
          <a:xfrm>
            <a:off x="3236976" y="185265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Quantity Adjustment Checks</a:t>
            </a:r>
            <a:endParaRPr lang="en-US" sz="1000" dirty="0"/>
          </a:p>
        </p:txBody>
      </p:sp>
      <p:sp>
        <p:nvSpPr>
          <p:cNvPr id="39" name="Shape 12"/>
          <p:cNvSpPr/>
          <p:nvPr/>
        </p:nvSpPr>
        <p:spPr>
          <a:xfrm>
            <a:off x="3154680" y="235458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0" name="Text 13"/>
          <p:cNvSpPr/>
          <p:nvPr/>
        </p:nvSpPr>
        <p:spPr>
          <a:xfrm>
            <a:off x="3254756" y="2210021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Zero/Negative Quantity Guard</a:t>
            </a:r>
            <a:endParaRPr lang="en-US" sz="1000" dirty="0"/>
          </a:p>
        </p:txBody>
      </p:sp>
      <p:sp>
        <p:nvSpPr>
          <p:cNvPr id="41" name="Shape 14"/>
          <p:cNvSpPr/>
          <p:nvPr/>
        </p:nvSpPr>
        <p:spPr>
          <a:xfrm>
            <a:off x="3154680" y="2698971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2" name="Text 15"/>
          <p:cNvSpPr/>
          <p:nvPr/>
        </p:nvSpPr>
        <p:spPr>
          <a:xfrm>
            <a:off x="3236976" y="25374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Bulk Cart Loading</a:t>
            </a:r>
            <a:endParaRPr lang="en-US" sz="1000" dirty="0"/>
          </a:p>
        </p:txBody>
      </p:sp>
      <p:sp>
        <p:nvSpPr>
          <p:cNvPr id="43" name="Shape 16"/>
          <p:cNvSpPr/>
          <p:nvPr/>
        </p:nvSpPr>
        <p:spPr>
          <a:xfrm>
            <a:off x="3154680" y="303022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4" name="Text 17"/>
          <p:cNvSpPr/>
          <p:nvPr/>
        </p:nvSpPr>
        <p:spPr>
          <a:xfrm>
            <a:off x="3236976" y="290322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Cart Badge Reactivity</a:t>
            </a:r>
            <a:endParaRPr lang="en-US" sz="1000" dirty="0"/>
          </a:p>
        </p:txBody>
      </p:sp>
      <p:sp>
        <p:nvSpPr>
          <p:cNvPr id="45" name="Text 19"/>
          <p:cNvSpPr/>
          <p:nvPr/>
        </p:nvSpPr>
        <p:spPr>
          <a:xfrm>
            <a:off x="3283458" y="332585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46" name="Text 19"/>
          <p:cNvSpPr/>
          <p:nvPr/>
        </p:nvSpPr>
        <p:spPr>
          <a:xfrm>
            <a:off x="3254756" y="369161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342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User Account Management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878956" y="1490472"/>
            <a:ext cx="2650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9300" y="1623060"/>
            <a:ext cx="4288160" cy="2438400"/>
          </a:xfrm>
          <a:prstGeom prst="rect">
            <a:avLst/>
          </a:prstGeom>
          <a:solidFill>
            <a:srgbClr val="1A3A5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9608" y="1750833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06752" y="1865133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9048" y="172896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Matrix Completeness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06752" y="2230893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6828" y="208633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Submission Errors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06752" y="2575284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9048" y="2413773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 Constraints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06752" y="2906533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9048" y="2779533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Entry Protections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10308" y="333375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5530" y="320216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Date Limits</a:t>
            </a:r>
            <a:endParaRPr lang="en-US" sz="1000" dirty="0"/>
          </a:p>
        </p:txBody>
      </p:sp>
      <p:sp>
        <p:nvSpPr>
          <p:cNvPr id="50" name="Text 19"/>
          <p:cNvSpPr/>
          <p:nvPr/>
        </p:nvSpPr>
        <p:spPr>
          <a:xfrm>
            <a:off x="2306828" y="356792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Integrity Checks</a:t>
            </a:r>
            <a:endParaRPr lang="en-US" sz="1000" dirty="0"/>
          </a:p>
        </p:txBody>
      </p:sp>
      <p:sp>
        <p:nvSpPr>
          <p:cNvPr id="51" name="Text 19"/>
          <p:cNvSpPr/>
          <p:nvPr/>
        </p:nvSpPr>
        <p:spPr>
          <a:xfrm>
            <a:off x="4151000" y="334672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Complexity Rules </a:t>
            </a:r>
            <a:endParaRPr lang="en-US" sz="1000" dirty="0"/>
          </a:p>
        </p:txBody>
      </p:sp>
      <p:sp>
        <p:nvSpPr>
          <p:cNvPr id="52" name="Shape 18"/>
          <p:cNvSpPr/>
          <p:nvPr/>
        </p:nvSpPr>
        <p:spPr>
          <a:xfrm>
            <a:off x="4059560" y="3498519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3" name="Shape 18"/>
          <p:cNvSpPr/>
          <p:nvPr/>
        </p:nvSpPr>
        <p:spPr>
          <a:xfrm>
            <a:off x="2210308" y="3733248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51000" y="2539779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Logic </a:t>
            </a:r>
            <a:r>
              <a:rPr lang="en-US" sz="1000" dirty="0" smtClean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059560" y="2691572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51000" y="210604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Input </a:t>
            </a:r>
            <a:r>
              <a:rPr lang="en-US" sz="1000" dirty="0" smtClean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059560" y="2257840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151000" y="29240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Modification </a:t>
            </a:r>
            <a:r>
              <a:rPr lang="en-US" sz="1000" dirty="0" smtClean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Safeguards.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4059560" y="3075885"/>
            <a:ext cx="91440" cy="914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108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— assertions, sequencing, report generation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5029200" cy="59436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— Chrome driver, element interactions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615184"/>
            <a:ext cx="4754880" cy="5943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15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889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in src/main/java — separate from test logic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328416"/>
            <a:ext cx="4480560" cy="59436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284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pom.xml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602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— Selenium, TestNG auto-downloaded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4041648"/>
            <a:ext cx="4206240" cy="59436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JDK 11+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315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— Eclipse IDE, M2E plugin, GitHub push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18872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1719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src/main/java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1947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Page Object Classes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Locators &amp; Actions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26334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src/test/java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862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TestNG Test Classes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3090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Assertions &amp; Logic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pom.xml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37764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All dependencies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4233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testng.xml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Suite runner config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</a:t>
            </a:r>
            <a:endParaRPr lang="en-US" sz="3000" dirty="0"/>
          </a:p>
        </p:txBody>
      </p:sp>
      <p:sp>
        <p:nvSpPr>
          <p:cNvPr id="70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1" name="image1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5344" y="1475232"/>
            <a:ext cx="5047488" cy="3306064"/>
          </a:xfrm>
          <a:prstGeom prst="rect">
            <a:avLst/>
          </a:prstGeom>
          <a:ln/>
        </p:spPr>
      </p:pic>
      <p:pic>
        <p:nvPicPr>
          <p:cNvPr id="73" name="image1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230368" y="776986"/>
            <a:ext cx="3547872" cy="400431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297180"/>
            <a:ext cx="217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6" y="1051560"/>
            <a:ext cx="6630494" cy="381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98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RTM Coverage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6596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097280"/>
          </a:xfrm>
          <a:prstGeom prst="rect">
            <a:avLst/>
          </a:prstGeom>
          <a:solidFill>
            <a:srgbClr val="2980B9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 (97%)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6596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1772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65960" cy="1097280"/>
          </a:xfrm>
          <a:prstGeom prst="rect">
            <a:avLst/>
          </a:prstGeom>
          <a:solidFill>
            <a:srgbClr val="1A5C2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850392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871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248716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48716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2487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85039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346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TC_M1_01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34440" y="28346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3160" y="28346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product grid loads on home page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0" y="2880360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880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136392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363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TC_M1_06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34440" y="31363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Search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3136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Category filter functionality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0" y="3182112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438144"/>
            <a:ext cx="85039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381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TC_M1_08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34440" y="343814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Search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23160" y="34381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simultaneous multi-filter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0" y="3483864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483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739896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7398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TC_m2_10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4440" y="373989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23160" y="37398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adding default quantity to cart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72400" y="3785616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3785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4041648"/>
            <a:ext cx="85039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416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TC_m2_02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234440" y="4041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Cart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423160" y="404164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image thumbnails/carousel is interactive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72400" y="4087368"/>
            <a:ext cx="914400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087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Blocked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4343400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3434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TC_m3_10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234440" y="434340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Sec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423160" y="4343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Authentication — valid login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72400" y="4389120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4389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645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D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TC_m3_15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2344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Sec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423160" y="46451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Post-Logout browser back navigation blocked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72400" y="4690872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Passed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93237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Sample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79976" y="277063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05220"/>
            <a:ext cx="7404901" cy="317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24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438249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Alignment &amp; Blocked Cases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023200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Matrix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426464"/>
            <a:ext cx="50292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4447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14447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Range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4447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Mapped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4447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1773936"/>
            <a:ext cx="50292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77393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Search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17739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M1-FR-01–23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17739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865376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773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2139696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13969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2139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M2-FR-01–15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1396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231136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1396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2505456"/>
            <a:ext cx="50292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250545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25054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M3-FR-01–22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25054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596896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5054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graphicFrame>
        <p:nvGraphicFramePr>
          <p:cNvPr id="44" name="Chart 0"/>
          <p:cNvGraphicFramePr/>
          <p:nvPr>
            <p:extLst>
              <p:ext uri="{D42A27DB-BD31-4B8C-83A1-F6EECF244321}">
                <p14:modId xmlns:p14="http://schemas.microsoft.com/office/powerpoint/2010/main" val="284788441"/>
              </p:ext>
            </p:extLst>
          </p:nvPr>
        </p:nvGraphicFramePr>
        <p:xfrm>
          <a:off x="2057400" y="2871216"/>
          <a:ext cx="5029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Deliverables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023360" cy="2286000"/>
          </a:xfrm>
          <a:prstGeom prst="rect">
            <a:avLst/>
          </a:prstGeom>
          <a:solidFill>
            <a:srgbClr val="1A3A5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8529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passed  |  2 blocked  |  0 failed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2519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188720"/>
            <a:ext cx="64008" cy="5486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6592" y="14721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 requirements across all 3 modules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847088"/>
            <a:ext cx="42519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847088"/>
            <a:ext cx="64008" cy="5486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892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v1.0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21305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scope, environment &amp; pass/fail criteria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505456"/>
            <a:ext cx="42519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505456"/>
            <a:ext cx="64008" cy="5486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551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788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traced to test cases — 100% mapped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63824"/>
            <a:ext cx="42519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163824"/>
            <a:ext cx="64008" cy="5486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209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Java/Selenium Source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3447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POM-based code pushed to GitHub, runnable via testng.xml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822192"/>
            <a:ext cx="42519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822192"/>
            <a:ext cx="64008" cy="54864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8679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41056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documented with screenshots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Toolshop platform performed well across all tested functional areas. Core user flows — product discovery, cart management, and account security — all function correctly under positive and negative conditions.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28346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65960"/>
            <a:ext cx="283464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01168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Exit Criteria Met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core RTM cases automated in Java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runs fully in Eclipse via testng.xml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03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bugs documented with reproducible steps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1965960"/>
            <a:ext cx="28346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965960"/>
            <a:ext cx="2834640" cy="45720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201168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Blocked — Not Failed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2560320"/>
            <a:ext cx="109728" cy="109728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TC_m2_02 &amp; TC_m2_03 blocked by environment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1568" y="3154680"/>
            <a:ext cx="109728" cy="109728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3108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multi-image product in test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01568" y="3749040"/>
            <a:ext cx="109728" cy="109728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3703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 is correct — environment fix needed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1965960"/>
            <a:ext cx="28346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965960"/>
            <a:ext cx="2834640" cy="4572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01168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45936" y="2560320"/>
            <a:ext cx="109728" cy="109728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test env with multi-image product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45936" y="3154680"/>
            <a:ext cx="109728" cy="109728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3108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Checkout &amp; Payment flow (next phase)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45936" y="3749040"/>
            <a:ext cx="109728" cy="109728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3703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CI/CD pipeline integration for regression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773168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practicesoftwaretesting.com  •  Farah Saleem | Ahmad Basheer | Monira | Hassan  •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087120" y="1686560"/>
            <a:ext cx="6807200" cy="157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5400" dirty="0" smtClean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 listening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6913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842</Words>
  <Application>Microsoft Office PowerPoint</Application>
  <PresentationFormat>On-screen Show (16:9)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Toolshop Automation Testing Project</dc:title>
  <dc:subject>PptxGenJS Presentation</dc:subject>
  <dc:creator>PptxGenJS</dc:creator>
  <cp:lastModifiedBy>Msys</cp:lastModifiedBy>
  <cp:revision>12</cp:revision>
  <dcterms:created xsi:type="dcterms:W3CDTF">2026-06-01T19:53:49Z</dcterms:created>
  <dcterms:modified xsi:type="dcterms:W3CDTF">2026-06-14T18:56:41Z</dcterms:modified>
</cp:coreProperties>
</file>